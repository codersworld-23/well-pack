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6524244"/>
            <a:ext cx="731520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BD3"/>
                </a:solidFill>
                <a:latin typeface="Segoe UI"/>
              </a:rPr>
              <a:t>WellPack  ·  Team Double Triple Stack  ·  SIH 2026  ·  PS SIH26034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524244"/>
            <a:ext cx="109728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B6A6"/>
                </a:solidFill>
                <a:latin typeface="Segoe U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233172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82127" y="274320"/>
            <a:ext cx="18288" cy="1783080"/>
          </a:xfrm>
          <a:prstGeom prst="rect">
            <a:avLst/>
          </a:prstGeom>
          <a:solidFill>
            <a:srgbClr val="255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292608"/>
            <a:ext cx="722376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B6A6"/>
                </a:solidFill>
                <a:latin typeface="Segoe UI"/>
              </a:rPr>
              <a:t>SMART INDIA HACKATHON 2026   ·   PS SIH26034   ·   THEME: MISCELLANEOUS   ·  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48640"/>
            <a:ext cx="722376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WellPack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335024"/>
            <a:ext cx="1097280" cy="4572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481328"/>
            <a:ext cx="722376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DE8EC"/>
                </a:solidFill>
                <a:latin typeface="Segoe UI"/>
              </a:rPr>
              <a:t>Legal Metrology compliance, verified in seconds — offline, cited and reproducible. A scan of any packaged label, checked against the Packaged Commodities Rules, 2011.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29184"/>
            <a:ext cx="3566160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B6A6"/>
                </a:solidFill>
                <a:latin typeface="Segoe UI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9016" y="530352"/>
            <a:ext cx="3566160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Double Triple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042415"/>
            <a:ext cx="1700784" cy="502920"/>
          </a:xfrm>
          <a:prstGeom prst="roundRect">
            <a:avLst>
              <a:gd name="adj" fmla="val 14000"/>
            </a:avLst>
          </a:prstGeom>
          <a:solidFill>
            <a:srgbClr val="143849"/>
          </a:solidFill>
          <a:ln w="12700">
            <a:solidFill>
              <a:srgbClr val="255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1069848"/>
            <a:ext cx="146304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B6A6"/>
                </a:solidFill>
                <a:latin typeface="Segoe U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1298448"/>
            <a:ext cx="146304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FB8C2"/>
                </a:solidFill>
                <a:latin typeface="Segoe UI"/>
              </a:rPr>
              <a:t>statutory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76688" y="1659636"/>
            <a:ext cx="1700784" cy="502920"/>
          </a:xfrm>
          <a:prstGeom prst="roundRect">
            <a:avLst>
              <a:gd name="adj" fmla="val 14000"/>
            </a:avLst>
          </a:prstGeom>
          <a:solidFill>
            <a:srgbClr val="143849"/>
          </a:solidFill>
          <a:ln w="12700">
            <a:solidFill>
              <a:srgbClr val="255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04704" y="1687068"/>
            <a:ext cx="146304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B6A6"/>
                </a:solidFill>
                <a:latin typeface="Segoe UI"/>
              </a:rPr>
              <a:t>PDF+DOCX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04704" y="1915669"/>
            <a:ext cx="146304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FB8C2"/>
                </a:solidFill>
                <a:latin typeface="Segoe UI"/>
              </a:rPr>
              <a:t>reports issued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2542032"/>
            <a:ext cx="11240719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3025"/>
                </a:solidFill>
                <a:latin typeface="Segoe UI"/>
              </a:rPr>
              <a:t>THE PROBLEM  ·  COMPLIANCE IS BLIND, AND EVERYONE PAYS FOR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2816351"/>
            <a:ext cx="3612794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75488" y="2816351"/>
            <a:ext cx="3612794" cy="45720"/>
          </a:xfrm>
          <a:prstGeom prst="rect">
            <a:avLst/>
          </a:prstGeom>
          <a:solidFill>
            <a:srgbClr val="B4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" y="2980944"/>
            <a:ext cx="3192170" cy="12435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E2A38"/>
                </a:solidFill>
                <a:latin typeface="Segoe UI"/>
              </a:rPr>
              <a:t>Regulators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43025"/>
                </a:solidFill>
                <a:latin typeface="Segoe UI"/>
              </a:rPr>
              <a:t>inspect by random sample.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E5C"/>
                </a:solidFill>
                <a:latin typeface="Segoe UI"/>
              </a:rPr>
              <a:t>Coverage is thin, the evidence is paper, and a violation surfaces months after the product reached the shelf.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9450" y="2816351"/>
            <a:ext cx="3612794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89450" y="2816351"/>
            <a:ext cx="3612794" cy="45720"/>
          </a:xfrm>
          <a:prstGeom prst="rect">
            <a:avLst/>
          </a:prstGeom>
          <a:solidFill>
            <a:srgbClr val="B4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08906" y="2980944"/>
            <a:ext cx="3192170" cy="12435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E2A38"/>
                </a:solidFill>
                <a:latin typeface="Segoe UI"/>
              </a:rPr>
              <a:t>Consumers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43025"/>
                </a:solidFill>
                <a:latin typeface="Segoe UI"/>
              </a:rPr>
              <a:t>cannot verify anything.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E5C"/>
                </a:solidFill>
                <a:latin typeface="Segoe UI"/>
              </a:rPr>
              <a:t>MRP, net quantity, packing date and origin sit in fine print no shopper can audit standing at a counter.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3412" y="2816351"/>
            <a:ext cx="3612794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03412" y="2816351"/>
            <a:ext cx="3612794" cy="45720"/>
          </a:xfrm>
          <a:prstGeom prst="rect">
            <a:avLst/>
          </a:prstGeom>
          <a:solidFill>
            <a:srgbClr val="B4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2868" y="2980944"/>
            <a:ext cx="3192170" cy="93544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 dirty="0">
                <a:solidFill>
                  <a:srgbClr val="0E2A38"/>
                </a:solidFill>
                <a:latin typeface="Segoe UI"/>
              </a:rPr>
              <a:t>Manufacturers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 dirty="0">
                <a:solidFill>
                  <a:srgbClr val="B43025"/>
                </a:solidFill>
                <a:latin typeface="Segoe UI"/>
              </a:rPr>
              <a:t>learn from the penalty notice.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334E5C"/>
                </a:solidFill>
                <a:latin typeface="Segoe UI"/>
              </a:rPr>
              <a:t>A non-compliant label is caught after the print run, the batch and the distribution and the recall cost.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4462272"/>
            <a:ext cx="5193792" cy="969264"/>
          </a:xfrm>
          <a:prstGeom prst="roundRect">
            <a:avLst>
              <a:gd name="adj" fmla="val 8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4944" y="4581144"/>
            <a:ext cx="4754880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F727D"/>
                </a:solidFill>
                <a:latin typeface="Segoe UI"/>
              </a:rPr>
              <a:t>BEFORE  ·  MANUAL INSPECTION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" y="4828032"/>
            <a:ext cx="47548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4E5C"/>
                </a:solidFill>
                <a:latin typeface="Segoe UI"/>
              </a:rPr>
              <a:t>Slow, random-sample, reactive. Findings live in a paper file nobody can search.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797296" y="4809744"/>
            <a:ext cx="530352" cy="274320"/>
          </a:xfrm>
          <a:prstGeom prst="rightArrow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528816" y="4462272"/>
            <a:ext cx="5193792" cy="969264"/>
          </a:xfrm>
          <a:prstGeom prst="roundRect">
            <a:avLst>
              <a:gd name="adj" fmla="val 8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48272" y="4581144"/>
            <a:ext cx="4754880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713C"/>
                </a:solidFill>
                <a:latin typeface="Segoe UI"/>
              </a:rPr>
              <a:t>AFTER  ·  A WELLPACK SCAN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8272" y="4828032"/>
            <a:ext cx="4754880" cy="4481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E2A38"/>
                </a:solidFill>
                <a:latin typeface="Segoe UI"/>
              </a:rPr>
              <a:t>Every label, in seconds, scored against the clause it breaches </a:t>
            </a:r>
            <a:r>
              <a:rPr lang="en-IN" sz="1150" b="0" i="0" dirty="0">
                <a:solidFill>
                  <a:srgbClr val="0E2A38"/>
                </a:solidFill>
                <a:latin typeface="Segoe UI"/>
              </a:rPr>
              <a:t>-</a:t>
            </a:r>
            <a:r>
              <a:rPr sz="1150" b="0" i="0" dirty="0">
                <a:solidFill>
                  <a:srgbClr val="0E2A38"/>
                </a:solidFill>
                <a:latin typeface="Segoe UI"/>
              </a:rPr>
              <a:t> with the photo, the OCR transcript and the citation attached.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577840"/>
            <a:ext cx="11240719" cy="658368"/>
          </a:xfrm>
          <a:prstGeom prst="roundRect">
            <a:avLst>
              <a:gd name="adj" fmla="val 10000"/>
            </a:avLst>
          </a:prstGeom>
          <a:solidFill>
            <a:srgbClr val="E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75488" y="5577840"/>
            <a:ext cx="50292" cy="658368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6656" y="5684431"/>
            <a:ext cx="10838383" cy="44518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0E2A38"/>
                </a:solidFill>
                <a:latin typeface="Segoe UI"/>
              </a:rPr>
              <a:t>What if anyone — a shopper, an inspector, a packaging manager — could point a phone at a label and know immediately whether it complies with the Packaged Commodities Rules?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6524244"/>
            <a:ext cx="731520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BD3"/>
                </a:solidFill>
                <a:latin typeface="Segoe UI"/>
              </a:rPr>
              <a:t>WellPack  ·  Team Double Triple Stack  ·  SIH 2026  ·  PS SIH26034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524244"/>
            <a:ext cx="109728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B6A6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"/>
            <a:ext cx="11240719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B8A"/>
                </a:solidFill>
                <a:latin typeface="Segoe U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525780"/>
            <a:ext cx="11240719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2A38"/>
                </a:solidFill>
                <a:latin typeface="Segoe UI"/>
              </a:rPr>
              <a:t>Scan a label. Get a verdict you can act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138428"/>
            <a:ext cx="960120" cy="41148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5488" y="1417320"/>
            <a:ext cx="2359152" cy="3246120"/>
          </a:xfrm>
          <a:prstGeom prst="roundRect">
            <a:avLst>
              <a:gd name="adj" fmla="val 6000"/>
            </a:avLst>
          </a:prstGeom>
          <a:solidFill>
            <a:srgbClr val="143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536192"/>
            <a:ext cx="2121408" cy="30083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536192"/>
            <a:ext cx="2121408" cy="329184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545336"/>
            <a:ext cx="146304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WellPack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545336"/>
            <a:ext cx="54864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B6A6"/>
                </a:solidFill>
                <a:latin typeface="Segoe UI"/>
              </a:rPr>
              <a:t>Scan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65376"/>
            <a:ext cx="2121408" cy="640080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911095"/>
            <a:ext cx="1463040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3025"/>
                </a:solidFill>
                <a:latin typeface="Segoe UI"/>
              </a:rPr>
              <a:t>NON-COMPLIANT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1892807"/>
            <a:ext cx="603504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B43025"/>
                </a:solidFill>
                <a:latin typeface="Segoe UI"/>
              </a:rPr>
              <a:t>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12848"/>
            <a:ext cx="1920240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4E5C"/>
                </a:solidFill>
                <a:latin typeface="Segoe UI"/>
              </a:rPr>
              <a:t>2 contraventions  ·  score /100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578608"/>
            <a:ext cx="1883664" cy="457200"/>
          </a:xfrm>
          <a:prstGeom prst="rect">
            <a:avLst/>
          </a:prstGeom>
          <a:solidFill>
            <a:srgbClr val="FA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2578608"/>
            <a:ext cx="41148" cy="457200"/>
          </a:xfrm>
          <a:prstGeom prst="rect">
            <a:avLst/>
          </a:prstGeom>
          <a:solidFill>
            <a:srgbClr val="B4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2596896"/>
            <a:ext cx="132588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38"/>
                </a:solidFill>
                <a:latin typeface="Segoe UI"/>
              </a:rPr>
              <a:t>Net quantity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798064"/>
            <a:ext cx="148132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727D"/>
                </a:solidFill>
                <a:latin typeface="Segoe UI"/>
              </a:rPr>
              <a:t>R6(1)(c)  ·  not declared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670048"/>
            <a:ext cx="47548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43025"/>
                </a:solidFill>
                <a:latin typeface="Segoe UI"/>
              </a:rPr>
              <a:t>–30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090672"/>
            <a:ext cx="1883664" cy="457200"/>
          </a:xfrm>
          <a:prstGeom prst="rect">
            <a:avLst/>
          </a:prstGeom>
          <a:solidFill>
            <a:srgbClr val="FA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2" y="3090672"/>
            <a:ext cx="41148" cy="457200"/>
          </a:xfrm>
          <a:prstGeom prst="rect">
            <a:avLst/>
          </a:prstGeom>
          <a:solidFill>
            <a:srgbClr val="C26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3108960"/>
            <a:ext cx="132588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38"/>
                </a:solidFill>
                <a:latin typeface="Segoe UI"/>
              </a:rPr>
              <a:t>Print contrast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310128"/>
            <a:ext cx="148132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727D"/>
                </a:solidFill>
                <a:latin typeface="Segoe UI"/>
              </a:rPr>
              <a:t>R9(1)  ·  2.1:1, needs 3:1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182112"/>
            <a:ext cx="47548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6A06"/>
                </a:solidFill>
                <a:latin typeface="Segoe UI"/>
              </a:rPr>
              <a:t>–15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3602736"/>
            <a:ext cx="1883664" cy="457200"/>
          </a:xfrm>
          <a:prstGeom prst="rect">
            <a:avLst/>
          </a:prstGeom>
          <a:solidFill>
            <a:srgbClr val="FA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3232" y="3602736"/>
            <a:ext cx="41148" cy="457200"/>
          </a:xfrm>
          <a:prstGeom prst="rect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3621024"/>
            <a:ext cx="132588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38"/>
                </a:solidFill>
                <a:latin typeface="Segoe UI"/>
              </a:rPr>
              <a:t>MRP incl. taxes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3822192"/>
            <a:ext cx="148132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727D"/>
                </a:solidFill>
                <a:latin typeface="Segoe UI"/>
              </a:rPr>
              <a:t>R6(1)(e)  ·  passed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694176"/>
            <a:ext cx="47548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713C"/>
                </a:solidFill>
                <a:latin typeface="Segoe UI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4187952"/>
            <a:ext cx="932688" cy="292608"/>
          </a:xfrm>
          <a:prstGeom prst="roundRect">
            <a:avLst>
              <a:gd name="adj" fmla="val 35000"/>
            </a:avLst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Download PDF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19072" y="4187952"/>
            <a:ext cx="859536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0F7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50" b="1" dirty="0">
                <a:solidFill>
                  <a:srgbClr val="0F7B8A"/>
                </a:solidFill>
                <a:latin typeface="Segoe UI"/>
              </a:rPr>
              <a:t>Get</a:t>
            </a:r>
            <a:r>
              <a:rPr sz="850" b="1" i="0" dirty="0">
                <a:solidFill>
                  <a:srgbClr val="0F7B8A"/>
                </a:solidFill>
                <a:latin typeface="Segoe UI"/>
              </a:rPr>
              <a:t> DOCX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08960" y="1417320"/>
            <a:ext cx="8607247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291840" y="1572768"/>
            <a:ext cx="310896" cy="310896"/>
          </a:xfrm>
          <a:prstGeom prst="ellips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1472184"/>
            <a:ext cx="7765999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38"/>
                </a:solidFill>
                <a:latin typeface="Segoe UI"/>
              </a:rPr>
              <a:t>Scan the label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0752" y="1709928"/>
            <a:ext cx="7747711" cy="2240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50" dirty="0">
                <a:solidFill>
                  <a:srgbClr val="334E5C"/>
                </a:solidFill>
                <a:latin typeface="Segoe UI"/>
              </a:rPr>
              <a:t>Take a picture of</a:t>
            </a:r>
            <a:r>
              <a:rPr sz="1050" b="0" i="0" dirty="0">
                <a:solidFill>
                  <a:srgbClr val="334E5C"/>
                </a:solidFill>
                <a:latin typeface="Segoe UI"/>
              </a:rPr>
              <a:t> the pack. </a:t>
            </a:r>
            <a:r>
              <a:rPr lang="en-IN" sz="1050" dirty="0">
                <a:solidFill>
                  <a:srgbClr val="334E5C"/>
                </a:solidFill>
                <a:latin typeface="Segoe UI"/>
              </a:rPr>
              <a:t>The product</a:t>
            </a:r>
            <a:r>
              <a:rPr sz="1050" b="0" i="0" dirty="0">
                <a:solidFill>
                  <a:srgbClr val="334E5C"/>
                </a:solidFill>
                <a:latin typeface="Segoe UI"/>
              </a:rPr>
              <a:t> is</a:t>
            </a:r>
            <a:r>
              <a:rPr lang="en-IN" sz="1050" b="0" i="0" dirty="0">
                <a:solidFill>
                  <a:srgbClr val="334E5C"/>
                </a:solidFill>
                <a:latin typeface="Segoe UI"/>
              </a:rPr>
              <a:t> accepted or</a:t>
            </a:r>
            <a:r>
              <a:rPr sz="1050" b="0" i="0" dirty="0">
                <a:solidFill>
                  <a:srgbClr val="334E5C"/>
                </a:solidFill>
                <a:latin typeface="Segoe UI"/>
              </a:rPr>
              <a:t> rejected on the device</a:t>
            </a:r>
            <a:r>
              <a:rPr lang="en-IN" sz="1050" dirty="0">
                <a:solidFill>
                  <a:srgbClr val="334E5C"/>
                </a:solidFill>
                <a:latin typeface="Segoe UI"/>
              </a:rPr>
              <a:t> in seconds.</a:t>
            </a:r>
            <a:endParaRPr sz="1050" b="0" i="0" dirty="0">
              <a:solidFill>
                <a:srgbClr val="334E5C"/>
              </a:solidFill>
              <a:latin typeface="Segoe UI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08960" y="2093976"/>
            <a:ext cx="8607247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291840" y="2249424"/>
            <a:ext cx="310896" cy="310896"/>
          </a:xfrm>
          <a:prstGeom prst="ellips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0752" y="2148840"/>
            <a:ext cx="7765999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38"/>
                </a:solidFill>
                <a:latin typeface="Segoe UI"/>
              </a:rPr>
              <a:t>Get a verdict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0752" y="2386584"/>
            <a:ext cx="7747711" cy="3108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334E5C"/>
                </a:solidFill>
                <a:latin typeface="Segoe UI"/>
              </a:rPr>
              <a:t>Compliant, Partial, Non-compliant or Needs review — with a 0–100 compliance score, in seconds.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08960" y="2770632"/>
            <a:ext cx="8607247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291840" y="2926080"/>
            <a:ext cx="310896" cy="310896"/>
          </a:xfrm>
          <a:prstGeom prst="ellips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0752" y="2825496"/>
            <a:ext cx="7765999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38"/>
                </a:solidFill>
                <a:latin typeface="Segoe UI"/>
              </a:rPr>
              <a:t>See every violation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0752" y="3063240"/>
            <a:ext cx="7747711" cy="3108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E5C"/>
                </a:solidFill>
                <a:latin typeface="Segoe UI"/>
              </a:rPr>
              <a:t>Each finding names the rule it breaches and states what was observed against what the law requires.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08960" y="3447288"/>
            <a:ext cx="8607247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291840" y="3602736"/>
            <a:ext cx="310896" cy="310896"/>
          </a:xfrm>
          <a:prstGeom prst="ellips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30752" y="3502152"/>
            <a:ext cx="7765999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38"/>
                </a:solidFill>
                <a:latin typeface="Segoe UI"/>
              </a:rPr>
              <a:t>File the 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30752" y="3739896"/>
            <a:ext cx="7747711" cy="3108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E5C"/>
                </a:solidFill>
                <a:latin typeface="Segoe UI"/>
              </a:rPr>
              <a:t>One click to a filing-ready PDF and an editable DOCX an officer can annotate before issuing it.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08960" y="4178808"/>
            <a:ext cx="8607247" cy="493776"/>
          </a:xfrm>
          <a:prstGeom prst="roundRect">
            <a:avLst>
              <a:gd name="adj" fmla="val 10000"/>
            </a:avLst>
          </a:prstGeom>
          <a:solidFill>
            <a:srgbClr val="E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108960" y="4178808"/>
            <a:ext cx="50292" cy="493776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10128" y="4315376"/>
            <a:ext cx="8204911" cy="22063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0E2A38"/>
                </a:solidFill>
                <a:latin typeface="Segoe UI"/>
              </a:rPr>
              <a:t>Verdict in seconds   ·  every </a:t>
            </a:r>
            <a:r>
              <a:rPr sz="1100" b="0" i="0" dirty="0" err="1">
                <a:solidFill>
                  <a:srgbClr val="0E2A38"/>
                </a:solidFill>
                <a:latin typeface="Segoe UI"/>
              </a:rPr>
              <a:t>sca</a:t>
            </a:r>
            <a:r>
              <a:rPr lang="en-IN" sz="1100" b="0" i="0" dirty="0">
                <a:solidFill>
                  <a:srgbClr val="0E2A38"/>
                </a:solidFill>
                <a:latin typeface="Segoe UI"/>
              </a:rPr>
              <a:t>n scored</a:t>
            </a:r>
            <a:r>
              <a:rPr sz="1100" b="0" i="0" dirty="0">
                <a:solidFill>
                  <a:srgbClr val="0E2A38"/>
                </a:solidFill>
                <a:latin typeface="Segoe UI"/>
              </a:rPr>
              <a:t> for search and audit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4773168"/>
            <a:ext cx="11240719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0F7B8A"/>
                </a:solidFill>
                <a:latin typeface="Segoe UI"/>
              </a:rPr>
              <a:t>UNDER THE HOOD  ·  THREE TIERS, ONE CODEBASE, NO CLOUD DEPENDENCY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5488" y="5047488"/>
            <a:ext cx="3612794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75488" y="5047488"/>
            <a:ext cx="3612794" cy="4572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6656" y="5166360"/>
            <a:ext cx="321045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B8A"/>
                </a:solidFill>
                <a:latin typeface="Segoe UI"/>
              </a:rPr>
              <a:t>FRONTEND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" y="5394960"/>
            <a:ext cx="3228746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0E2A38"/>
                </a:solidFill>
                <a:latin typeface="Segoe UI"/>
              </a:rPr>
              <a:t>Next.js 16 · React 19 · TypeScript · Tailwind v4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" y="5705856"/>
            <a:ext cx="3210458" cy="39145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334E5C"/>
                </a:solidFill>
                <a:latin typeface="Segoe UI"/>
              </a:rPr>
              <a:t>Image</a:t>
            </a:r>
            <a:r>
              <a:rPr sz="1000" b="0" i="0" dirty="0">
                <a:solidFill>
                  <a:srgbClr val="334E5C"/>
                </a:solidFill>
                <a:latin typeface="Segoe UI"/>
              </a:rPr>
              <a:t> capture, inspector dashboard, citizen report. Runs in any browser.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9450" y="5047488"/>
            <a:ext cx="3612794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289450" y="5047488"/>
            <a:ext cx="3612794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490618" y="5166360"/>
            <a:ext cx="321045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</a:rPr>
              <a:t>BACKEND API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90618" y="5394960"/>
            <a:ext cx="3228746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38"/>
                </a:solidFill>
                <a:latin typeface="Segoe UI"/>
              </a:rPr>
              <a:t>FastAPI · Python 3.10 · SQLAlchemy 2.0 · JWT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0618" y="5705856"/>
            <a:ext cx="3210458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334E5C"/>
                </a:solidFill>
                <a:latin typeface="Segoe UI"/>
              </a:rPr>
              <a:t>Scans, rules, analytics and reports in one service. SQLite → PostgreSQL, no rewrite.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03412" y="5047488"/>
            <a:ext cx="3612794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103412" y="5047488"/>
            <a:ext cx="3612794" cy="45720"/>
          </a:xfrm>
          <a:prstGeom prst="rect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04580" y="5166360"/>
            <a:ext cx="321045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713C"/>
                </a:solidFill>
                <a:latin typeface="Segoe UI"/>
              </a:rPr>
              <a:t>INTELLIGENCE LAYER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04580" y="5394960"/>
            <a:ext cx="3228746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38"/>
                </a:solidFill>
                <a:latin typeface="Segoe UI"/>
              </a:rPr>
              <a:t>OpenCV · RapidOCR ONNX · TF-IDF · rule engine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04580" y="5705856"/>
            <a:ext cx="3210458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E5C"/>
                </a:solidFill>
                <a:latin typeface="Segoe UI"/>
              </a:rPr>
              <a:t>Measures the pixels, retrieves the clause, decides. No request leaves the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6524244"/>
            <a:ext cx="731520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BD3"/>
                </a:solidFill>
                <a:latin typeface="Segoe UI"/>
              </a:rPr>
              <a:t>WellPack  ·  Team Double Triple Stack  ·  SIH 2026  ·  PS SIH26034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524244"/>
            <a:ext cx="109728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B6A6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"/>
            <a:ext cx="11240719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B8A"/>
                </a:solidFill>
                <a:latin typeface="Segoe UI"/>
              </a:rPr>
              <a:t>CAPTURE TO VERDICT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525780"/>
            <a:ext cx="11240719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2A38"/>
                </a:solidFill>
                <a:latin typeface="Segoe UI"/>
              </a:rPr>
              <a:t>Nine phases, eleven statutory checks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138428"/>
            <a:ext cx="960120" cy="41148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5488" y="1417320"/>
            <a:ext cx="211647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2648" y="1508760"/>
            <a:ext cx="256032" cy="256032"/>
          </a:xfrm>
          <a:prstGeom prst="ellips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92224"/>
            <a:ext cx="186043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Quality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186043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E5C"/>
                </a:solidFill>
                <a:latin typeface="Segoe UI"/>
              </a:rPr>
              <a:t>Reject a blurred or glared photo up front.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10246" y="1819656"/>
            <a:ext cx="128016" cy="155448"/>
          </a:xfrm>
          <a:prstGeom prst="rightArrow">
            <a:avLst/>
          </a:prstGeom>
          <a:solidFill>
            <a:srgbClr val="C2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56550" y="1417320"/>
            <a:ext cx="211647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93710" y="1508760"/>
            <a:ext cx="256032" cy="256032"/>
          </a:xfrm>
          <a:prstGeom prst="ellips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4566" y="1792224"/>
            <a:ext cx="186043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OCR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4566" y="2002536"/>
            <a:ext cx="186043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E5C"/>
                </a:solidFill>
                <a:latin typeface="Segoe UI"/>
              </a:rPr>
              <a:t>Label image to text. Offline, on the box.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91308" y="1819656"/>
            <a:ext cx="128016" cy="155448"/>
          </a:xfrm>
          <a:prstGeom prst="rightArrow">
            <a:avLst/>
          </a:prstGeom>
          <a:solidFill>
            <a:srgbClr val="C2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37612" y="1417320"/>
            <a:ext cx="211647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74772" y="1508760"/>
            <a:ext cx="256032" cy="256032"/>
          </a:xfrm>
          <a:prstGeom prst="ellips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5628" y="1792224"/>
            <a:ext cx="186043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Semantic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5628" y="2002536"/>
            <a:ext cx="186043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E5C"/>
                </a:solidFill>
                <a:latin typeface="Segoe UI"/>
              </a:rPr>
              <a:t>Seen this pack before? Skip to the verdict.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72370" y="1819656"/>
            <a:ext cx="128016" cy="155448"/>
          </a:xfrm>
          <a:prstGeom prst="rightArrow">
            <a:avLst/>
          </a:prstGeom>
          <a:solidFill>
            <a:srgbClr val="C2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8674" y="1417320"/>
            <a:ext cx="211647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55834" y="1508760"/>
            <a:ext cx="256032" cy="256032"/>
          </a:xfrm>
          <a:prstGeom prst="ellips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6690" y="1792224"/>
            <a:ext cx="186043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Measure pixels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6690" y="2002536"/>
            <a:ext cx="186043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900" dirty="0">
                <a:solidFill>
                  <a:srgbClr val="334E5C"/>
                </a:solidFill>
                <a:latin typeface="Segoe UI"/>
              </a:rPr>
              <a:t>Measures</a:t>
            </a:r>
            <a:r>
              <a:rPr sz="900" b="0" i="0" dirty="0">
                <a:solidFill>
                  <a:srgbClr val="334E5C"/>
                </a:solidFill>
                <a:latin typeface="Segoe UI"/>
              </a:rPr>
              <a:t> heights in mm, contrast per region.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453432" y="1819656"/>
            <a:ext cx="128016" cy="155448"/>
          </a:xfrm>
          <a:prstGeom prst="rightArrow">
            <a:avLst/>
          </a:prstGeom>
          <a:solidFill>
            <a:srgbClr val="C2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599736" y="1417320"/>
            <a:ext cx="211647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36896" y="1508760"/>
            <a:ext cx="256032" cy="256032"/>
          </a:xfrm>
          <a:prstGeom prst="ellips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7752" y="1792224"/>
            <a:ext cx="186043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Clause retrieval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7752" y="2002536"/>
            <a:ext cx="186043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E5C"/>
                </a:solidFill>
                <a:latin typeface="Segoe UI"/>
              </a:rPr>
              <a:t>Pull the clauses that govern this label.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16736" y="2450591"/>
            <a:ext cx="2266111" cy="969264"/>
          </a:xfrm>
          <a:prstGeom prst="roundRect">
            <a:avLst>
              <a:gd name="adj" fmla="val 6000"/>
            </a:avLst>
          </a:prstGeom>
          <a:solidFill>
            <a:srgbClr val="E8F6EE"/>
          </a:solidFill>
          <a:ln w="17780">
            <a:solidFill>
              <a:srgbClr val="147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453895" y="2542032"/>
            <a:ext cx="256032" cy="256032"/>
          </a:xfrm>
          <a:prstGeom prst="ellipse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4752" y="2825496"/>
            <a:ext cx="2010079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Rule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752" y="3035808"/>
            <a:ext cx="2010079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E5C"/>
                </a:solidFill>
                <a:latin typeface="Segoe UI"/>
              </a:rPr>
              <a:t>Scores every field against the live law. Decides.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3601135" y="2852927"/>
            <a:ext cx="128016" cy="155448"/>
          </a:xfrm>
          <a:prstGeom prst="rightArrow">
            <a:avLst/>
          </a:prstGeom>
          <a:solidFill>
            <a:srgbClr val="C2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747439" y="2450591"/>
            <a:ext cx="2266111" cy="969264"/>
          </a:xfrm>
          <a:prstGeom prst="roundRect">
            <a:avLst>
              <a:gd name="adj" fmla="val 6000"/>
            </a:avLst>
          </a:prstGeom>
          <a:solidFill>
            <a:srgbClr val="FDF2E3"/>
          </a:solidFill>
          <a:ln w="17780">
            <a:solidFill>
              <a:srgbClr val="C26A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84599" y="2542032"/>
            <a:ext cx="256032" cy="256032"/>
          </a:xfrm>
          <a:prstGeom prst="ellipse">
            <a:avLst/>
          </a:prstGeom>
          <a:solidFill>
            <a:srgbClr val="C26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75455" y="2825496"/>
            <a:ext cx="2010079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LLM narrative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75455" y="3035808"/>
            <a:ext cx="2010079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E5C"/>
                </a:solidFill>
                <a:latin typeface="Segoe UI"/>
              </a:rPr>
              <a:t>Plain-language wording. Advisory, discardable.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031839" y="2852927"/>
            <a:ext cx="128016" cy="155448"/>
          </a:xfrm>
          <a:prstGeom prst="rightArrow">
            <a:avLst/>
          </a:prstGeom>
          <a:solidFill>
            <a:srgbClr val="C2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178143" y="2450591"/>
            <a:ext cx="2266111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315303" y="2542032"/>
            <a:ext cx="256032" cy="256032"/>
          </a:xfrm>
          <a:prstGeom prst="ellips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6159" y="2825496"/>
            <a:ext cx="2010079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Persist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6159" y="3035808"/>
            <a:ext cx="2010079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E5C"/>
                </a:solidFill>
                <a:latin typeface="Segoe UI"/>
              </a:rPr>
              <a:t>Save the verdict, warm the cache, log the audit row.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462543" y="2852927"/>
            <a:ext cx="128016" cy="155448"/>
          </a:xfrm>
          <a:prstGeom prst="rightArrow">
            <a:avLst/>
          </a:prstGeom>
          <a:solidFill>
            <a:srgbClr val="C2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608847" y="2450591"/>
            <a:ext cx="2266111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746007" y="2542032"/>
            <a:ext cx="256032" cy="256032"/>
          </a:xfrm>
          <a:prstGeom prst="ellips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6863" y="2825496"/>
            <a:ext cx="2010079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Deliver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6863" y="3035808"/>
            <a:ext cx="2010079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E5C"/>
                </a:solidFill>
                <a:latin typeface="Segoe UI"/>
              </a:rPr>
              <a:t>Verdict on screen, PDF/DOCX report, searchable history.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5488" y="3511296"/>
            <a:ext cx="11240719" cy="493776"/>
          </a:xfrm>
          <a:prstGeom prst="roundRect">
            <a:avLst>
              <a:gd name="adj" fmla="val 1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75488" y="3511296"/>
            <a:ext cx="50292" cy="493776"/>
          </a:xfrm>
          <a:prstGeom prst="rect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6656" y="3644082"/>
            <a:ext cx="10838383" cy="22820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E2A38"/>
                </a:solidFill>
                <a:latin typeface="Segoe UI"/>
              </a:rPr>
              <a:t>Phase 6 decides, phase 7 only describes. A narrative scoring above a 0.35 hallucination coefficient is discarded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4114800"/>
            <a:ext cx="11240719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B8A"/>
                </a:solidFill>
                <a:latin typeface="Segoe UI"/>
              </a:rPr>
              <a:t>WHAT WE CHECK  ·  EVERY CHECK ENFORCES ONE CLAUSE, AND CITES IT BY NUMBER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" y="4389120"/>
            <a:ext cx="3612794" cy="1755648"/>
          </a:xfrm>
          <a:prstGeom prst="roundRect">
            <a:avLst>
              <a:gd name="adj" fmla="val 8000"/>
            </a:avLst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75488" y="4389120"/>
            <a:ext cx="3612794" cy="45720"/>
          </a:xfrm>
          <a:prstGeom prst="rect">
            <a:avLst/>
          </a:prstGeom>
          <a:solidFill>
            <a:srgbClr val="B4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6656" y="4517136"/>
            <a:ext cx="321045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3025"/>
                </a:solidFill>
                <a:latin typeface="Segoe UI"/>
              </a:rPr>
              <a:t>CRITICAL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" y="4745736"/>
            <a:ext cx="321045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334E5C"/>
                </a:solidFill>
                <a:latin typeface="Segoe UI"/>
              </a:rPr>
              <a:t>4 checks</a:t>
            </a:r>
            <a:r>
              <a:rPr lang="en-IN" sz="950" b="1" i="0" dirty="0">
                <a:solidFill>
                  <a:srgbClr val="334E5C"/>
                </a:solidFill>
                <a:latin typeface="Segoe UI"/>
              </a:rPr>
              <a:t>  ·  –30 each</a:t>
            </a:r>
            <a:endParaRPr sz="950" b="1" i="0" dirty="0">
              <a:solidFill>
                <a:srgbClr val="334E5C"/>
              </a:solidFill>
              <a:latin typeface="Segoe U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76656" y="4956048"/>
            <a:ext cx="3228746" cy="11521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B43025"/>
              </a:buClr>
              <a:buFont typeface="Arial"/>
              <a:buChar char="▪"/>
            </a:pPr>
            <a:r>
              <a:rPr sz="1050" b="0" i="0">
                <a:solidFill>
                  <a:srgbClr val="0E2A38"/>
                </a:solidFill>
                <a:latin typeface="Segoe UI"/>
              </a:rPr>
              <a:t>Net quantity declared  </a:t>
            </a:r>
            <a:r>
              <a:rPr sz="950" b="1" i="0">
                <a:solidFill>
                  <a:srgbClr val="B43025"/>
                </a:solidFill>
                <a:latin typeface="Segoe UI"/>
              </a:rPr>
              <a:t>R6(1)(c)</a:t>
            </a:r>
          </a:p>
          <a:p>
            <a:pPr marL="150000" indent="-15000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B43025"/>
              </a:buClr>
              <a:buFont typeface="Arial"/>
              <a:buChar char="▪"/>
            </a:pPr>
            <a:r>
              <a:rPr sz="1050" b="0" i="0">
                <a:solidFill>
                  <a:srgbClr val="0E2A38"/>
                </a:solidFill>
                <a:latin typeface="Segoe UI"/>
              </a:rPr>
              <a:t>Date of manufacture or packing  </a:t>
            </a:r>
            <a:r>
              <a:rPr sz="950" b="1" i="0">
                <a:solidFill>
                  <a:srgbClr val="B43025"/>
                </a:solidFill>
                <a:latin typeface="Segoe UI"/>
              </a:rPr>
              <a:t>R6(1)(d)</a:t>
            </a:r>
          </a:p>
          <a:p>
            <a:pPr marL="150000" indent="-15000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B43025"/>
              </a:buClr>
              <a:buFont typeface="Arial"/>
              <a:buChar char="▪"/>
            </a:pPr>
            <a:r>
              <a:rPr sz="1050" b="0" i="0">
                <a:solidFill>
                  <a:srgbClr val="0E2A38"/>
                </a:solidFill>
                <a:latin typeface="Segoe UI"/>
              </a:rPr>
              <a:t>MRP inclusive of all taxes  </a:t>
            </a:r>
            <a:r>
              <a:rPr sz="950" b="1" i="0">
                <a:solidFill>
                  <a:srgbClr val="B43025"/>
                </a:solidFill>
                <a:latin typeface="Segoe UI"/>
              </a:rPr>
              <a:t>R6(1)(e)</a:t>
            </a:r>
          </a:p>
          <a:p>
            <a:pPr marL="150000" indent="-15000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B43025"/>
              </a:buClr>
              <a:buFont typeface="Arial"/>
              <a:buChar char="▪"/>
            </a:pPr>
            <a:r>
              <a:rPr sz="1050" b="0" i="0">
                <a:solidFill>
                  <a:srgbClr val="0E2A38"/>
                </a:solidFill>
                <a:latin typeface="Segoe UI"/>
              </a:rPr>
              <a:t>No duplicate or inflated MRP  </a:t>
            </a:r>
            <a:r>
              <a:rPr sz="950" b="1" i="0">
                <a:solidFill>
                  <a:srgbClr val="B43025"/>
                </a:solidFill>
                <a:latin typeface="Segoe UI"/>
              </a:rPr>
              <a:t>R18(1)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89450" y="4389120"/>
            <a:ext cx="3612794" cy="1755648"/>
          </a:xfrm>
          <a:prstGeom prst="roundRect">
            <a:avLst>
              <a:gd name="adj" fmla="val 8000"/>
            </a:avLst>
          </a:prstGeom>
          <a:solidFill>
            <a:srgbClr val="FD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289450" y="4389120"/>
            <a:ext cx="3612794" cy="45720"/>
          </a:xfrm>
          <a:prstGeom prst="rect">
            <a:avLst/>
          </a:prstGeom>
          <a:solidFill>
            <a:srgbClr val="C26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490618" y="4517136"/>
            <a:ext cx="321045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6A06"/>
                </a:solidFill>
                <a:latin typeface="Segoe UI"/>
              </a:rPr>
              <a:t>MAJOR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72330" y="4691265"/>
            <a:ext cx="321045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4E5C"/>
                </a:solidFill>
                <a:latin typeface="Segoe UI"/>
              </a:rPr>
              <a:t>6 checks  ·  –15 each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99177" y="4885551"/>
            <a:ext cx="3228746" cy="11521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C26A06"/>
              </a:buClr>
              <a:buFont typeface="Arial"/>
              <a:buChar char="▪"/>
            </a:pPr>
            <a:r>
              <a:rPr sz="1000" b="0" i="0" dirty="0">
                <a:solidFill>
                  <a:srgbClr val="0E2A38"/>
                </a:solidFill>
                <a:latin typeface="Segoe UI"/>
              </a:rPr>
              <a:t>Manufacturer / packer + PIN address  </a:t>
            </a:r>
            <a:r>
              <a:rPr sz="900" b="1" i="0" dirty="0">
                <a:solidFill>
                  <a:srgbClr val="C26A06"/>
                </a:solidFill>
                <a:latin typeface="Segoe UI"/>
              </a:rPr>
              <a:t>R6(1)(a)</a:t>
            </a:r>
          </a:p>
          <a:p>
            <a:pPr marL="150000" indent="-15000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C26A06"/>
              </a:buClr>
              <a:buFont typeface="Arial"/>
              <a:buChar char="▪"/>
            </a:pPr>
            <a:r>
              <a:rPr sz="1000" b="0" i="0" dirty="0">
                <a:solidFill>
                  <a:srgbClr val="0E2A38"/>
                </a:solidFill>
                <a:latin typeface="Segoe UI"/>
              </a:rPr>
              <a:t>Generic or common name  </a:t>
            </a:r>
            <a:r>
              <a:rPr sz="900" b="1" i="0" dirty="0">
                <a:solidFill>
                  <a:srgbClr val="C26A06"/>
                </a:solidFill>
                <a:latin typeface="Segoe UI"/>
              </a:rPr>
              <a:t>R6(1)(b)</a:t>
            </a:r>
          </a:p>
          <a:p>
            <a:pPr marL="150000" indent="-15000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C26A06"/>
              </a:buClr>
              <a:buFont typeface="Arial"/>
              <a:buChar char="▪"/>
            </a:pPr>
            <a:r>
              <a:rPr sz="1000" b="0" i="0" dirty="0">
                <a:solidFill>
                  <a:srgbClr val="0E2A38"/>
                </a:solidFill>
                <a:latin typeface="Segoe UI"/>
              </a:rPr>
              <a:t>Consumer-care contact  </a:t>
            </a:r>
            <a:r>
              <a:rPr sz="900" b="1" i="0" dirty="0">
                <a:solidFill>
                  <a:srgbClr val="C26A06"/>
                </a:solidFill>
                <a:latin typeface="Segoe UI"/>
              </a:rPr>
              <a:t>R6(1)(f)</a:t>
            </a:r>
          </a:p>
          <a:p>
            <a:pPr marL="150000" indent="-15000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C26A06"/>
              </a:buClr>
              <a:buFont typeface="Arial"/>
              <a:buChar char="▪"/>
            </a:pPr>
            <a:r>
              <a:rPr sz="1000" b="0" i="0" dirty="0">
                <a:solidFill>
                  <a:srgbClr val="0E2A38"/>
                </a:solidFill>
                <a:latin typeface="Segoe UI"/>
              </a:rPr>
              <a:t>Country of origin (imports)  </a:t>
            </a:r>
            <a:r>
              <a:rPr sz="900" b="1" i="0" dirty="0">
                <a:solidFill>
                  <a:srgbClr val="C26A06"/>
                </a:solidFill>
                <a:latin typeface="Segoe UI"/>
              </a:rPr>
              <a:t>R6(1)(g)</a:t>
            </a:r>
          </a:p>
          <a:p>
            <a:pPr marL="150000" indent="-15000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C26A06"/>
              </a:buClr>
              <a:buFont typeface="Arial"/>
              <a:buChar char="▪"/>
            </a:pPr>
            <a:r>
              <a:rPr sz="1000" b="0" i="0" dirty="0">
                <a:solidFill>
                  <a:srgbClr val="0E2A38"/>
                </a:solidFill>
                <a:latin typeface="Segoe UI"/>
              </a:rPr>
              <a:t>Print contrast of at least 3:1  </a:t>
            </a:r>
            <a:r>
              <a:rPr sz="900" b="1" i="0" dirty="0">
                <a:solidFill>
                  <a:srgbClr val="C26A06"/>
                </a:solidFill>
                <a:latin typeface="Segoe UI"/>
              </a:rPr>
              <a:t>R9(1)</a:t>
            </a:r>
          </a:p>
          <a:p>
            <a:pPr marL="150000" indent="-15000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C26A06"/>
              </a:buClr>
              <a:buFont typeface="Arial"/>
              <a:buChar char="▪"/>
            </a:pPr>
            <a:r>
              <a:rPr sz="1000" b="0" i="0" dirty="0">
                <a:solidFill>
                  <a:srgbClr val="0E2A38"/>
                </a:solidFill>
                <a:latin typeface="Segoe UI"/>
              </a:rPr>
              <a:t>Font height meets the schedule  </a:t>
            </a:r>
            <a:r>
              <a:rPr sz="900" b="1" i="0" dirty="0">
                <a:solidFill>
                  <a:srgbClr val="C26A06"/>
                </a:solidFill>
                <a:latin typeface="Segoe UI"/>
              </a:rPr>
              <a:t>R9(3)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03412" y="4389120"/>
            <a:ext cx="3612794" cy="1755648"/>
          </a:xfrm>
          <a:prstGeom prst="roundRect">
            <a:avLst>
              <a:gd name="adj" fmla="val 8000"/>
            </a:avLst>
          </a:prstGeom>
          <a:solidFill>
            <a:srgbClr val="FCF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03412" y="4389120"/>
            <a:ext cx="3612794" cy="45720"/>
          </a:xfrm>
          <a:prstGeom prst="rect">
            <a:avLst/>
          </a:prstGeom>
          <a:solidFill>
            <a:srgbClr val="9A7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4580" y="4517136"/>
            <a:ext cx="321045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60A"/>
                </a:solidFill>
                <a:latin typeface="Segoe UI"/>
              </a:rPr>
              <a:t>MINOR &amp; INFORMATIONAL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04580" y="4745736"/>
            <a:ext cx="321045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4E5C"/>
                </a:solidFill>
                <a:latin typeface="Segoe UI"/>
              </a:rPr>
              <a:t>1 check  ·  –6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04580" y="4956048"/>
            <a:ext cx="3228746" cy="44262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9A760A"/>
              </a:buClr>
              <a:buFont typeface="Arial"/>
              <a:buChar char="▪"/>
            </a:pPr>
            <a:r>
              <a:rPr sz="1050" b="0" i="0" dirty="0">
                <a:solidFill>
                  <a:srgbClr val="0E2A38"/>
                </a:solidFill>
                <a:latin typeface="Segoe UI"/>
              </a:rPr>
              <a:t>Metric expression of units </a:t>
            </a:r>
            <a:r>
              <a:rPr lang="en-IN" sz="1050" dirty="0">
                <a:solidFill>
                  <a:srgbClr val="0E2A38"/>
                </a:solidFill>
                <a:latin typeface="Segoe UI"/>
              </a:rPr>
              <a:t>-</a:t>
            </a:r>
            <a:r>
              <a:rPr sz="1050" b="0" i="0" dirty="0">
                <a:solidFill>
                  <a:srgbClr val="0E2A38"/>
                </a:solidFill>
                <a:latin typeface="Segoe UI"/>
              </a:rPr>
              <a:t>1000g read</a:t>
            </a:r>
            <a:r>
              <a:rPr lang="en-IN" sz="1050" b="0" i="0" dirty="0">
                <a:solidFill>
                  <a:srgbClr val="0E2A38"/>
                </a:solidFill>
                <a:latin typeface="Segoe UI"/>
              </a:rPr>
              <a:t> as</a:t>
            </a:r>
            <a:r>
              <a:rPr sz="1050" b="0" i="0" dirty="0">
                <a:solidFill>
                  <a:srgbClr val="0E2A38"/>
                </a:solidFill>
                <a:latin typeface="Segoe UI"/>
              </a:rPr>
              <a:t> 1 kg  </a:t>
            </a:r>
            <a:r>
              <a:rPr sz="950" b="1" i="0" dirty="0">
                <a:solidFill>
                  <a:srgbClr val="9A760A"/>
                </a:solidFill>
                <a:latin typeface="Segoe UI"/>
              </a:rPr>
              <a:t>R5</a:t>
            </a:r>
          </a:p>
          <a:p>
            <a:pPr marL="150000" indent="-15000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9A760A"/>
              </a:buClr>
              <a:buFont typeface="Arial"/>
              <a:buChar char="▪"/>
            </a:pPr>
            <a:r>
              <a:rPr sz="1050" b="0" i="0" dirty="0">
                <a:solidFill>
                  <a:srgbClr val="0E2A38"/>
                </a:solidFill>
                <a:latin typeface="Segoe UI"/>
              </a:rPr>
              <a:t>Section 36 penalty exposure  </a:t>
            </a:r>
            <a:r>
              <a:rPr sz="950" b="1" i="0" dirty="0">
                <a:solidFill>
                  <a:srgbClr val="9A760A"/>
                </a:solidFill>
                <a:latin typeface="Segoe UI"/>
              </a:rPr>
              <a:t>informational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488" y="6208776"/>
            <a:ext cx="11240719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B8A"/>
                </a:solidFill>
                <a:latin typeface="Segoe UI"/>
              </a:rPr>
              <a:t>Rules are data, not code — deactivate a clause in the admin portal and its check switches off on the very next scan, never silently re-attributed to a neighbouring clause.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6524244"/>
            <a:ext cx="731520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BD3"/>
                </a:solidFill>
                <a:latin typeface="Segoe UI"/>
              </a:rPr>
              <a:t>WellPack  ·  Team Double Triple Stack  ·  SIH 2026  ·  PS SIH26034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524244"/>
            <a:ext cx="109728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B6A6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"/>
            <a:ext cx="11240719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B8A"/>
                </a:solidFill>
                <a:latin typeface="Segoe UI"/>
              </a:rPr>
              <a:t>HOW THE DECISION IS MADE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525780"/>
            <a:ext cx="11240719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2A38"/>
                </a:solidFill>
                <a:latin typeface="Segoe UI"/>
              </a:rPr>
              <a:t>Scoring, verdicts and five innovations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138428"/>
            <a:ext cx="960120" cy="41148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5488" y="1417320"/>
            <a:ext cx="4709160" cy="2103120"/>
          </a:xfrm>
          <a:prstGeom prst="roundRect">
            <a:avLst>
              <a:gd name="adj" fmla="val 8000"/>
            </a:avLst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517904"/>
            <a:ext cx="4251960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B6A6"/>
                </a:solidFill>
                <a:latin typeface="Segoe UI"/>
              </a:rPr>
              <a:t>THE SCORING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55648"/>
            <a:ext cx="4251960" cy="3291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Score  =  100  −  Σ (severity penalty)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176272"/>
            <a:ext cx="1371600" cy="566928"/>
          </a:xfrm>
          <a:prstGeom prst="roundRect">
            <a:avLst>
              <a:gd name="adj" fmla="val 14000"/>
            </a:avLst>
          </a:prstGeom>
          <a:solidFill>
            <a:srgbClr val="16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221992"/>
            <a:ext cx="137160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43025"/>
                </a:solidFill>
                <a:latin typeface="Segoe U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−30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76272" y="2176272"/>
            <a:ext cx="1371600" cy="566928"/>
          </a:xfrm>
          <a:prstGeom prst="roundRect">
            <a:avLst>
              <a:gd name="adj" fmla="val 14000"/>
            </a:avLst>
          </a:prstGeom>
          <a:solidFill>
            <a:srgbClr val="16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76272" y="2221992"/>
            <a:ext cx="137160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6A06"/>
                </a:solidFill>
                <a:latin typeface="Segoe UI"/>
              </a:rPr>
              <a:t>MAJOR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2423160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−15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9312" y="2176272"/>
            <a:ext cx="1371600" cy="566928"/>
          </a:xfrm>
          <a:prstGeom prst="roundRect">
            <a:avLst>
              <a:gd name="adj" fmla="val 14000"/>
            </a:avLst>
          </a:prstGeom>
          <a:solidFill>
            <a:srgbClr val="16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39312" y="2221992"/>
            <a:ext cx="137160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B32E"/>
                </a:solidFill>
                <a:latin typeface="Segoe UI"/>
              </a:rPr>
              <a:t>MINOR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423160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−6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871215"/>
            <a:ext cx="4233672" cy="18288"/>
          </a:xfrm>
          <a:prstGeom prst="rect">
            <a:avLst/>
          </a:prstGeom>
          <a:solidFill>
            <a:srgbClr val="2A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2980944"/>
            <a:ext cx="425196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6D7DD"/>
                </a:solidFill>
                <a:latin typeface="Segoe UI"/>
              </a:rPr>
              <a:t>Worked example:  100  −30 (net quantity missing)  −15 (contrast 2.1:1)  =  55  →  Non-compliant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22392" y="1417320"/>
            <a:ext cx="6293815" cy="475488"/>
          </a:xfrm>
          <a:prstGeom prst="roundRect">
            <a:avLst>
              <a:gd name="adj" fmla="val 1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22392" y="1417320"/>
            <a:ext cx="41148" cy="475488"/>
          </a:xfrm>
          <a:prstGeom prst="rect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05272" y="1453896"/>
            <a:ext cx="160020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713C"/>
                </a:solidFill>
                <a:latin typeface="Segoe UI"/>
              </a:rPr>
              <a:t>COMPLIANT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1655064"/>
            <a:ext cx="210312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27D"/>
                </a:solidFill>
                <a:latin typeface="Segoe UI"/>
              </a:rPr>
              <a:t>Score 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1463040"/>
            <a:ext cx="3687775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E2A38"/>
                </a:solidFill>
                <a:latin typeface="Segoe UI"/>
              </a:rPr>
              <a:t>No contravention on any active clause.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22392" y="1965960"/>
            <a:ext cx="6293815" cy="475488"/>
          </a:xfrm>
          <a:prstGeom prst="roundRect">
            <a:avLst>
              <a:gd name="adj" fmla="val 10000"/>
            </a:avLst>
          </a:prstGeom>
          <a:solidFill>
            <a:srgbClr val="FCF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22392" y="1965960"/>
            <a:ext cx="41148" cy="475488"/>
          </a:xfrm>
          <a:prstGeom prst="rect">
            <a:avLst/>
          </a:prstGeom>
          <a:solidFill>
            <a:srgbClr val="D9B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05272" y="2002536"/>
            <a:ext cx="160020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B32E"/>
                </a:solidFill>
                <a:latin typeface="Segoe UI"/>
              </a:rPr>
              <a:t>PARTIAL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5272" y="2203704"/>
            <a:ext cx="210312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27D"/>
                </a:solidFill>
                <a:latin typeface="Segoe UI"/>
              </a:rPr>
              <a:t>Minor defects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2011679"/>
            <a:ext cx="3687775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E2A38"/>
                </a:solidFill>
                <a:latin typeface="Segoe UI"/>
              </a:rPr>
              <a:t>A technical defect — 1200 g rather than 1.2 kg. Fix before the shelf.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22392" y="2514600"/>
            <a:ext cx="6293815" cy="475488"/>
          </a:xfrm>
          <a:prstGeom prst="roundRect">
            <a:avLst>
              <a:gd name="adj" fmla="val 10000"/>
            </a:avLst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22392" y="2514600"/>
            <a:ext cx="41148" cy="475488"/>
          </a:xfrm>
          <a:prstGeom prst="rect">
            <a:avLst/>
          </a:prstGeom>
          <a:solidFill>
            <a:srgbClr val="B4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05272" y="2551176"/>
            <a:ext cx="160020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3025"/>
                </a:solidFill>
                <a:latin typeface="Segoe UI"/>
              </a:rPr>
              <a:t>NON-COMPLIANT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5272" y="2752344"/>
            <a:ext cx="210312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27D"/>
                </a:solidFill>
                <a:latin typeface="Segoe UI"/>
              </a:rPr>
              <a:t>Any critical or major finding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2560320"/>
            <a:ext cx="3687775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E2A38"/>
                </a:solidFill>
                <a:latin typeface="Segoe UI"/>
              </a:rPr>
              <a:t>A mandatory declaration is breached. Severity decides this, at any score.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22392" y="3063240"/>
            <a:ext cx="6293815" cy="475488"/>
          </a:xfrm>
          <a:prstGeom prst="roundRect">
            <a:avLst>
              <a:gd name="adj" fmla="val 10000"/>
            </a:avLst>
          </a:prstGeom>
          <a:solidFill>
            <a:srgbClr val="EC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22392" y="3063240"/>
            <a:ext cx="41148" cy="47548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05272" y="3099816"/>
            <a:ext cx="160020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D4ED8"/>
                </a:solidFill>
                <a:latin typeface="Segoe UI"/>
              </a:rPr>
              <a:t>NEEDS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5272" y="3300984"/>
            <a:ext cx="210312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27D"/>
                </a:solidFill>
                <a:latin typeface="Segoe UI"/>
              </a:rPr>
              <a:t>Capture too degraded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108960"/>
            <a:ext cx="3687775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E2A38"/>
                </a:solidFill>
                <a:latin typeface="Segoe UI"/>
              </a:rPr>
              <a:t>A blurred frame cannot support a confident negative finding. A human looks.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" y="3639312"/>
            <a:ext cx="11240719" cy="512064"/>
          </a:xfrm>
          <a:prstGeom prst="roundRect">
            <a:avLst>
              <a:gd name="adj" fmla="val 10000"/>
            </a:avLst>
          </a:prstGeom>
          <a:solidFill>
            <a:srgbClr val="E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5488" y="3639312"/>
            <a:ext cx="50292" cy="512064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6656" y="3688332"/>
            <a:ext cx="10838383" cy="41402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E2A38"/>
                </a:solidFill>
                <a:latin typeface="Segoe UI"/>
              </a:rPr>
              <a:t>Severity decides the verdict, not a score band. A result can never read Compliant while listing a critical contravention. And the same weights apply whether the engine narrates or the LLM does </a:t>
            </a:r>
            <a:r>
              <a:rPr lang="en-IN" sz="1150" b="0" i="0" dirty="0">
                <a:solidFill>
                  <a:srgbClr val="0E2A38"/>
                </a:solidFill>
                <a:latin typeface="Segoe UI"/>
              </a:rPr>
              <a:t>-</a:t>
            </a:r>
            <a:r>
              <a:rPr sz="1150" b="0" i="0" dirty="0">
                <a:solidFill>
                  <a:srgbClr val="0E2A38"/>
                </a:solidFill>
                <a:latin typeface="Segoe UI"/>
              </a:rPr>
              <a:t> one verdict means one thing.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4297680"/>
            <a:ext cx="11240719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B8A"/>
                </a:solidFill>
                <a:latin typeface="Segoe UI"/>
              </a:rPr>
              <a:t>FIVE INNOVATIONS  ·  EACH WITH A PROOF POINT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" y="4572000"/>
            <a:ext cx="2116470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75488" y="4572000"/>
            <a:ext cx="2116470" cy="4572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21792" y="4700016"/>
            <a:ext cx="292608" cy="292608"/>
          </a:xfrm>
          <a:prstGeom prst="ellips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5010912"/>
            <a:ext cx="184215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38"/>
                </a:solidFill>
                <a:latin typeface="Segoe UI"/>
              </a:rPr>
              <a:t>Dynamic RAG pipeline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" y="5376672"/>
            <a:ext cx="184215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334E5C"/>
                </a:solidFill>
                <a:latin typeface="Segoe UI"/>
              </a:rPr>
              <a:t>Rules are data. Edit a clause and the corpus re-embeds; the next scan applies the new law.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" y="5925312"/>
            <a:ext cx="457200" cy="2286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2648" y="5980176"/>
            <a:ext cx="1842150" cy="3291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B8A"/>
                </a:solidFill>
                <a:latin typeface="Segoe UI"/>
              </a:rPr>
              <a:t>An admin deactivates a clause in seconds — no redeploy.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56550" y="4572000"/>
            <a:ext cx="2116470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56550" y="4572000"/>
            <a:ext cx="2116470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902854" y="4700016"/>
            <a:ext cx="292608" cy="29260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93710" y="5010912"/>
            <a:ext cx="184215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38"/>
                </a:solidFill>
                <a:latin typeface="Segoe UI"/>
              </a:rPr>
              <a:t>RAG-grounded narrative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93710" y="5376672"/>
            <a:ext cx="184215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E5C"/>
                </a:solidFill>
                <a:latin typeface="Segoe UI"/>
              </a:rPr>
              <a:t>The model may cite only the clauses that were retrieved — never a rule that was not.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93710" y="5925312"/>
            <a:ext cx="457200" cy="228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93710" y="5980176"/>
            <a:ext cx="1842150" cy="3291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D4ED8"/>
                </a:solidFill>
                <a:latin typeface="Segoe UI"/>
              </a:rPr>
              <a:t>A finding citing anything unretrieved is dropped.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37612" y="4572000"/>
            <a:ext cx="2116470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037612" y="4572000"/>
            <a:ext cx="2116470" cy="45720"/>
          </a:xfrm>
          <a:prstGeom prst="rect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5183916" y="4700016"/>
            <a:ext cx="292608" cy="292608"/>
          </a:xfrm>
          <a:prstGeom prst="ellipse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74772" y="5010912"/>
            <a:ext cx="184215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38"/>
                </a:solidFill>
                <a:latin typeface="Segoe UI"/>
              </a:rPr>
              <a:t>Deterministic fallback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74772" y="5376672"/>
            <a:ext cx="184215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E5C"/>
                </a:solidFill>
                <a:latin typeface="Segoe UI"/>
              </a:rPr>
              <a:t>The rule engine decides the score, always. The LLM writes explanations and nothing else.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74772" y="5925312"/>
            <a:ext cx="457200" cy="22860"/>
          </a:xfrm>
          <a:prstGeom prst="rect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174772" y="5980176"/>
            <a:ext cx="1842150" cy="3291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4713C"/>
                </a:solidFill>
                <a:latin typeface="Segoe UI"/>
              </a:rPr>
              <a:t>No key, no network — still 100% regression pass.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8674" y="4572000"/>
            <a:ext cx="2116470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318674" y="4572000"/>
            <a:ext cx="2116470" cy="45720"/>
          </a:xfrm>
          <a:prstGeom prst="rect">
            <a:avLst/>
          </a:prstGeom>
          <a:solidFill>
            <a:srgbClr val="C26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7464978" y="4700016"/>
            <a:ext cx="292608" cy="292608"/>
          </a:xfrm>
          <a:prstGeom prst="ellipse">
            <a:avLst/>
          </a:prstGeom>
          <a:solidFill>
            <a:srgbClr val="C26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55834" y="5010912"/>
            <a:ext cx="184215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38"/>
                </a:solidFill>
                <a:latin typeface="Segoe UI"/>
              </a:rPr>
              <a:t>Semantic caching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5834" y="5376672"/>
            <a:ext cx="184215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E5C"/>
                </a:solidFill>
                <a:latin typeface="Segoe UI"/>
              </a:rPr>
              <a:t>Hits are decided by meaning, not file hash. Two angles on one pack are one product.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55834" y="5925312"/>
            <a:ext cx="457200" cy="22860"/>
          </a:xfrm>
          <a:prstGeom prst="rect">
            <a:avLst/>
          </a:prstGeom>
          <a:solidFill>
            <a:srgbClr val="C26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55834" y="5980176"/>
            <a:ext cx="1842150" cy="3291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26A06"/>
                </a:solidFill>
                <a:latin typeface="Segoe UI"/>
              </a:rPr>
              <a:t>Cosine ≥ 0.94 is a hit; survives restarts.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599736" y="4572000"/>
            <a:ext cx="2116470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599736" y="4572000"/>
            <a:ext cx="2116470" cy="45720"/>
          </a:xfrm>
          <a:prstGeom prst="rect">
            <a:avLst/>
          </a:prstGeom>
          <a:solidFill>
            <a:srgbClr val="B4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9746040" y="4700016"/>
            <a:ext cx="292608" cy="292608"/>
          </a:xfrm>
          <a:prstGeom prst="ellipse">
            <a:avLst/>
          </a:prstGeom>
          <a:solidFill>
            <a:srgbClr val="B4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36896" y="5010912"/>
            <a:ext cx="184215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38"/>
                </a:solidFill>
                <a:latin typeface="Segoe UI"/>
              </a:rPr>
              <a:t>Multi-modal verification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36896" y="5376672"/>
            <a:ext cx="184215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E5C"/>
                </a:solidFill>
                <a:latin typeface="Segoe UI"/>
              </a:rPr>
              <a:t>Pixel measurement and statutory comprehension resolve into one verdict, not two opinions.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736896" y="5925312"/>
            <a:ext cx="457200" cy="22860"/>
          </a:xfrm>
          <a:prstGeom prst="rect">
            <a:avLst/>
          </a:prstGeom>
          <a:solidFill>
            <a:srgbClr val="B4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736896" y="5980176"/>
            <a:ext cx="1842150" cy="3291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43025"/>
                </a:solidFill>
                <a:latin typeface="Segoe UI"/>
              </a:rPr>
              <a:t>Catches a 2.1:1 contrast that OCR text reads as fine.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6524244"/>
            <a:ext cx="731520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BD3"/>
                </a:solidFill>
                <a:latin typeface="Segoe UI"/>
              </a:rPr>
              <a:t>WellPack  ·  Team Double Triple Stack  ·  SIH 2026  ·  PS SIH26034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524244"/>
            <a:ext cx="109728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B6A6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"/>
            <a:ext cx="11240719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B8A"/>
                </a:solidFill>
                <a:latin typeface="Segoe UI"/>
              </a:rPr>
              <a:t>FEASIBILITY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525780"/>
            <a:ext cx="11240719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2A38"/>
                </a:solidFill>
                <a:latin typeface="Segoe UI"/>
              </a:rPr>
              <a:t>Proven where it counts, and who it pays off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138428"/>
            <a:ext cx="960120" cy="41148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5488" y="1417320"/>
            <a:ext cx="2659303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" y="1417320"/>
            <a:ext cx="41148" cy="676656"/>
          </a:xfrm>
          <a:prstGeom prst="rect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1453896"/>
            <a:ext cx="2275255" cy="3291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713C"/>
                </a:solidFill>
                <a:latin typeface="Segoe U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792224"/>
            <a:ext cx="2275255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27D"/>
                </a:solidFill>
                <a:latin typeface="Segoe UI"/>
              </a:rPr>
              <a:t>regression suite pass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5959" y="1417320"/>
            <a:ext cx="2659303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5959" y="1417320"/>
            <a:ext cx="41148" cy="676656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7127" y="1453896"/>
            <a:ext cx="2275255" cy="3291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7B8A"/>
                </a:solidFill>
                <a:latin typeface="Segoe U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7127" y="1792224"/>
            <a:ext cx="2275255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27D"/>
                </a:solidFill>
                <a:latin typeface="Segoe UI"/>
              </a:rPr>
              <a:t>API keys to run the 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1" y="1417320"/>
            <a:ext cx="2659303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6431" y="1417320"/>
            <a:ext cx="41148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97599" y="1453896"/>
            <a:ext cx="2275255" cy="3291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D4ED8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7599" y="1792224"/>
            <a:ext cx="2275255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27D"/>
                </a:solidFill>
                <a:latin typeface="Segoe UI"/>
              </a:rPr>
              <a:t>synthetic defect scenarios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6903" y="1417320"/>
            <a:ext cx="2659303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56903" y="1417320"/>
            <a:ext cx="41148" cy="676656"/>
          </a:xfrm>
          <a:prstGeom prst="rect">
            <a:avLst/>
          </a:prstGeom>
          <a:solidFill>
            <a:srgbClr val="C26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8071" y="1453896"/>
            <a:ext cx="2275255" cy="3291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26A06"/>
                </a:solidFill>
                <a:latin typeface="Segoe UI"/>
              </a:rPr>
              <a:t>0.35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071" y="1792224"/>
            <a:ext cx="2275255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27D"/>
                </a:solidFill>
                <a:latin typeface="Segoe UI"/>
              </a:rPr>
              <a:t>hallucination ceiling on the LLM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2212848"/>
            <a:ext cx="3612794" cy="1682496"/>
          </a:xfrm>
          <a:prstGeom prst="roundRect">
            <a:avLst>
              <a:gd name="adj" fmla="val 8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5488" y="2212848"/>
            <a:ext cx="3612794" cy="45720"/>
          </a:xfrm>
          <a:prstGeom prst="rect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2350008"/>
            <a:ext cx="321045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713C"/>
                </a:solidFill>
                <a:latin typeface="Segoe UI"/>
              </a:rPr>
              <a:t>DEMONSTRATED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2515780"/>
            <a:ext cx="3173882" cy="12252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4713C"/>
              </a:buClr>
              <a:buFont typeface="Arial"/>
              <a:buChar char="▪"/>
            </a:pPr>
            <a:r>
              <a:rPr sz="1050" b="0" i="0" dirty="0">
                <a:solidFill>
                  <a:srgbClr val="334E5C"/>
                </a:solidFill>
                <a:latin typeface="Segoe UI"/>
              </a:rPr>
              <a:t>Regression suite passes 100% across every synthetic defect scenario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4713C"/>
              </a:buClr>
              <a:buFont typeface="Arial"/>
              <a:buChar char="▪"/>
            </a:pPr>
            <a:r>
              <a:rPr sz="1050" b="0" i="0" dirty="0">
                <a:solidFill>
                  <a:srgbClr val="334E5C"/>
                </a:solidFill>
                <a:latin typeface="Segoe UI"/>
              </a:rPr>
              <a:t>Core modules run end to end with the network switched off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4713C"/>
              </a:buClr>
              <a:buFont typeface="Arial"/>
              <a:buChar char="▪"/>
            </a:pPr>
            <a:r>
              <a:rPr sz="1050" b="0" i="0" dirty="0">
                <a:solidFill>
                  <a:srgbClr val="334E5C"/>
                </a:solidFill>
                <a:latin typeface="Segoe UI"/>
              </a:rPr>
              <a:t>PDF and DOCX reports built from one model, so the formats cannot drift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9450" y="2212848"/>
            <a:ext cx="3612794" cy="1682496"/>
          </a:xfrm>
          <a:prstGeom prst="roundRect">
            <a:avLst>
              <a:gd name="adj" fmla="val 8000"/>
            </a:avLst>
          </a:prstGeom>
          <a:solidFill>
            <a:srgbClr val="FD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89450" y="2212848"/>
            <a:ext cx="3612794" cy="45720"/>
          </a:xfrm>
          <a:prstGeom prst="rect">
            <a:avLst/>
          </a:prstGeom>
          <a:solidFill>
            <a:srgbClr val="C26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0618" y="2340864"/>
            <a:ext cx="321045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6A06"/>
                </a:solidFill>
                <a:latin typeface="Segoe UI"/>
              </a:rPr>
              <a:t>RESIDUAL RISKS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4148" y="2535250"/>
            <a:ext cx="3173882" cy="12252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C26A06"/>
              </a:buClr>
              <a:buFont typeface="Arial"/>
              <a:buChar char="▪"/>
            </a:pPr>
            <a:r>
              <a:rPr sz="1050" b="0" i="0" dirty="0">
                <a:solidFill>
                  <a:srgbClr val="334E5C"/>
                </a:solidFill>
                <a:latin typeface="Segoe UI"/>
              </a:rPr>
              <a:t>OCR degrades on glare, crinkling and curved packaging surfaces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C26A06"/>
              </a:buClr>
              <a:buFont typeface="Arial"/>
              <a:buChar char="▪"/>
            </a:pPr>
            <a:r>
              <a:rPr sz="1050" b="0" i="0" dirty="0">
                <a:solidFill>
                  <a:srgbClr val="334E5C"/>
                </a:solidFill>
                <a:latin typeface="Segoe UI"/>
              </a:rPr>
              <a:t>An LLM could misstate a clause or invent a finding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C26A06"/>
              </a:buClr>
              <a:buFont typeface="Arial"/>
              <a:buChar char="▪"/>
            </a:pPr>
            <a:r>
              <a:rPr sz="1050" b="0" i="0" dirty="0">
                <a:solidFill>
                  <a:srgbClr val="334E5C"/>
                </a:solidFill>
                <a:latin typeface="Segoe UI"/>
              </a:rPr>
              <a:t>Real retail photography is noisier than the synthetic test 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3412" y="2212848"/>
            <a:ext cx="3612794" cy="1682496"/>
          </a:xfrm>
          <a:prstGeom prst="roundRect">
            <a:avLst>
              <a:gd name="adj" fmla="val 8000"/>
            </a:avLst>
          </a:prstGeom>
          <a:solidFill>
            <a:srgbClr val="EC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03412" y="2212848"/>
            <a:ext cx="3612794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04580" y="2340864"/>
            <a:ext cx="321045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D4ED8"/>
                </a:solidFill>
                <a:latin typeface="Segoe UI"/>
              </a:rPr>
              <a:t>HOW WE MITIGATE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8004" y="2515780"/>
            <a:ext cx="3173882" cy="12252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D4ED8"/>
              </a:buClr>
              <a:buFont typeface="Arial"/>
              <a:buChar char="▪"/>
            </a:pPr>
            <a:r>
              <a:rPr sz="1050" b="0" i="0" dirty="0">
                <a:solidFill>
                  <a:srgbClr val="334E5C"/>
                </a:solidFill>
                <a:latin typeface="Segoe UI"/>
              </a:rPr>
              <a:t>Edge quality gate rejects a bad frame before the backend infers from it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D4ED8"/>
              </a:buClr>
              <a:buFont typeface="Arial"/>
              <a:buChar char="▪"/>
            </a:pPr>
            <a:r>
              <a:rPr sz="1050" b="0" i="0" dirty="0">
                <a:solidFill>
                  <a:srgbClr val="334E5C"/>
                </a:solidFill>
                <a:latin typeface="Segoe UI"/>
              </a:rPr>
              <a:t>Hallucination coefficient scores citation, coherence and confidence drift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D4ED8"/>
              </a:buClr>
              <a:buFont typeface="Arial"/>
              <a:buChar char="▪"/>
            </a:pPr>
            <a:r>
              <a:rPr sz="1050" b="0" i="0" dirty="0">
                <a:solidFill>
                  <a:srgbClr val="334E5C"/>
                </a:solidFill>
                <a:latin typeface="Segoe UI"/>
              </a:rPr>
              <a:t>The rule engine is sovereign — the LLM narrates, it never scores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4005072"/>
            <a:ext cx="11240719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B8A"/>
                </a:solidFill>
                <a:latin typeface="Segoe UI"/>
              </a:rPr>
              <a:t>IMPACT  ·  THREE CONSTITUENCIES, ONE SCAN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279392"/>
            <a:ext cx="3612794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5488" y="4279392"/>
            <a:ext cx="3612794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6656" y="4398264"/>
            <a:ext cx="2698394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</a:rPr>
              <a:t>CONSUMERS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56762" y="4398264"/>
            <a:ext cx="512064" cy="219456"/>
          </a:xfrm>
          <a:prstGeom prst="roundRect">
            <a:avLst>
              <a:gd name="adj" fmla="val 3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B2C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4597070"/>
            <a:ext cx="321045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E2A38"/>
                </a:solidFill>
                <a:latin typeface="Segoe UI"/>
              </a:rPr>
              <a:t>Transparency at the point of sale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815151"/>
            <a:ext cx="3173882" cy="6766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D4ED8"/>
              </a:buClr>
              <a:buFont typeface="Arial"/>
              <a:buChar char="▪"/>
            </a:pPr>
            <a:r>
              <a:rPr sz="950" b="0" i="0" dirty="0">
                <a:solidFill>
                  <a:srgbClr val="334E5C"/>
                </a:solidFill>
                <a:latin typeface="Segoe UI"/>
              </a:rPr>
              <a:t>Immediate read on MRP, net quantity, packing date and manufacturer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D4ED8"/>
              </a:buClr>
              <a:buFont typeface="Arial"/>
              <a:buChar char="▪"/>
            </a:pPr>
            <a:r>
              <a:rPr sz="950" b="0" i="0" dirty="0">
                <a:solidFill>
                  <a:srgbClr val="334E5C"/>
                </a:solidFill>
                <a:latin typeface="Segoe UI"/>
              </a:rPr>
              <a:t>Zero-friction violation report that reaches a regulator with 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" y="5577840"/>
            <a:ext cx="321045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1D4ED8"/>
                </a:solidFill>
                <a:latin typeface="Segoe UI"/>
              </a:rPr>
              <a:t>Reach: 500M+ smartphones in India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89450" y="4279392"/>
            <a:ext cx="3612794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289450" y="4279392"/>
            <a:ext cx="3612794" cy="45720"/>
          </a:xfrm>
          <a:prstGeom prst="rect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90618" y="4398264"/>
            <a:ext cx="2698394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713C"/>
                </a:solidFill>
                <a:latin typeface="Segoe UI"/>
              </a:rPr>
              <a:t>REGULATORS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70724" y="4398264"/>
            <a:ext cx="512064" cy="219456"/>
          </a:xfrm>
          <a:prstGeom prst="roundRect">
            <a:avLst>
              <a:gd name="adj" fmla="val 35000"/>
            </a:avLst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B2G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1475" y="4587926"/>
            <a:ext cx="321045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E2A38"/>
                </a:solidFill>
                <a:latin typeface="Segoe UI"/>
              </a:rPr>
              <a:t>Evidence replaces random sampling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72330" y="4834814"/>
            <a:ext cx="3173882" cy="6766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4713C"/>
              </a:buClr>
              <a:buFont typeface="Arial"/>
              <a:buChar char="▪"/>
            </a:pPr>
            <a:r>
              <a:rPr sz="950" b="0" i="0" dirty="0">
                <a:solidFill>
                  <a:srgbClr val="334E5C"/>
                </a:solidFill>
                <a:latin typeface="Segoe UI"/>
              </a:rPr>
              <a:t>Every scan is a filing record: photo, OCR transcript, verdict, citation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4713C"/>
              </a:buClr>
              <a:buFont typeface="Arial"/>
              <a:buChar char="▪"/>
            </a:pPr>
            <a:r>
              <a:rPr sz="950" b="0" i="0" dirty="0">
                <a:solidFill>
                  <a:srgbClr val="334E5C"/>
                </a:solidFill>
                <a:latin typeface="Segoe UI"/>
              </a:rPr>
              <a:t>Searchable history and audit trail in place of a paper file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90618" y="5577840"/>
            <a:ext cx="321045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713C"/>
                </a:solidFill>
                <a:latin typeface="Segoe UI"/>
              </a:rPr>
              <a:t>One officer covers a multiple of today's caseload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03412" y="4279392"/>
            <a:ext cx="3612794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103412" y="4279392"/>
            <a:ext cx="3612794" cy="45720"/>
          </a:xfrm>
          <a:prstGeom prst="rect">
            <a:avLst/>
          </a:prstGeom>
          <a:solidFill>
            <a:srgbClr val="C26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04580" y="4398264"/>
            <a:ext cx="2698394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26A06"/>
                </a:solidFill>
                <a:latin typeface="Segoe UI"/>
              </a:rPr>
              <a:t>MANUFACTURERS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984687" y="4398264"/>
            <a:ext cx="512064" cy="219456"/>
          </a:xfrm>
          <a:prstGeom prst="roundRect">
            <a:avLst>
              <a:gd name="adj" fmla="val 35000"/>
            </a:avLst>
          </a:prstGeom>
          <a:solidFill>
            <a:srgbClr val="C26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B2B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8004" y="4577407"/>
            <a:ext cx="3210458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E2A38"/>
                </a:solidFill>
                <a:latin typeface="Segoe UI"/>
              </a:rPr>
              <a:t>Catch it before the print run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04580" y="4806695"/>
            <a:ext cx="3173882" cy="6766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C26A06"/>
              </a:buClr>
              <a:buFont typeface="Arial"/>
              <a:buChar char="▪"/>
            </a:pPr>
            <a:r>
              <a:rPr sz="950" b="0" i="0" dirty="0">
                <a:solidFill>
                  <a:srgbClr val="334E5C"/>
                </a:solidFill>
                <a:latin typeface="Segoe UI"/>
              </a:rPr>
              <a:t>Pre-market self-audit flags non-compliant artwork before it reaches a shelf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C26A06"/>
              </a:buClr>
              <a:buFont typeface="Arial"/>
              <a:buChar char="▪"/>
            </a:pPr>
            <a:r>
              <a:rPr sz="950" b="0" i="0" dirty="0">
                <a:solidFill>
                  <a:srgbClr val="334E5C"/>
                </a:solidFill>
                <a:latin typeface="Segoe UI"/>
              </a:rPr>
              <a:t>Avoids Section 36 penalty exposure and the cost of a batch recall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04580" y="5577840"/>
            <a:ext cx="3210458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26A06"/>
                </a:solidFill>
                <a:latin typeface="Segoe UI"/>
              </a:rPr>
              <a:t>Addressable: 100K+ packaged-goods makers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5488" y="5943600"/>
            <a:ext cx="11240719" cy="457200"/>
          </a:xfrm>
          <a:prstGeom prst="roundRect">
            <a:avLst>
              <a:gd name="adj" fmla="val 8000"/>
            </a:avLst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3232" y="5973748"/>
            <a:ext cx="10783519" cy="39690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1FB6A6"/>
                </a:solidFill>
                <a:latin typeface="Segoe UI"/>
              </a:rPr>
              <a:t>MARKET  </a:t>
            </a:r>
            <a:r>
              <a:rPr sz="1050" b="0" i="0" dirty="0">
                <a:solidFill>
                  <a:srgbClr val="DDE8EC"/>
                </a:solidFill>
                <a:latin typeface="Segoe UI"/>
              </a:rPr>
              <a:t>India's packaged goods market runs to roughly ₹2.5 lakh crore a year; even 1% of the compliance-verification spend around it is a ₹50 crore opportunity.</a:t>
            </a:r>
            <a:endParaRPr lang="en-IN" sz="1050" b="0" i="0" dirty="0">
              <a:solidFill>
                <a:srgbClr val="DDE8EC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DE8EC"/>
                </a:solidFill>
                <a:latin typeface="Segoe UI"/>
              </a:rPr>
              <a:t>— Ministry of Consumer Affairs, Food &amp; Public Distribution. </a:t>
            </a:r>
            <a:r>
              <a:rPr sz="900" b="0" i="1" dirty="0">
                <a:solidFill>
                  <a:srgbClr val="7E9AA6"/>
                </a:solidFill>
                <a:latin typeface="Segoe UI"/>
              </a:rPr>
              <a:t>Figures are internal estimates.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6524244"/>
            <a:ext cx="731520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BD3"/>
                </a:solidFill>
                <a:latin typeface="Segoe UI"/>
              </a:rPr>
              <a:t>WellPack  ·  Team Double Triple Stack  ·  SIH 2026  ·  PS SIH26034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524244"/>
            <a:ext cx="109728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B6A6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"/>
            <a:ext cx="11240719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B8A"/>
                </a:solidFill>
                <a:latin typeface="Segoe UI"/>
              </a:rPr>
              <a:t>ROADMAP &amp; WHY WE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525780"/>
            <a:ext cx="11240719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2A38"/>
                </a:solidFill>
                <a:latin typeface="Segoe UI"/>
              </a:rPr>
              <a:t>From working prototype to pan-India rollout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138428"/>
            <a:ext cx="960120" cy="41148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5488" y="1417320"/>
            <a:ext cx="2659303" cy="2331720"/>
          </a:xfrm>
          <a:prstGeom prst="roundRect">
            <a:avLst>
              <a:gd name="adj" fmla="val 8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" y="1417320"/>
            <a:ext cx="2659303" cy="45720"/>
          </a:xfrm>
          <a:prstGeom prst="rect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1517904"/>
            <a:ext cx="2256967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713C"/>
                </a:solidFill>
                <a:latin typeface="Segoe UI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755648"/>
            <a:ext cx="2256967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38"/>
                </a:solidFill>
                <a:latin typeface="Segoe UI"/>
              </a:rPr>
              <a:t>Shipped and 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029967"/>
            <a:ext cx="2220391" cy="16276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4713C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OCR + rule engine: 5 synthetic scenarios, 100% pass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4713C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RAG pipeline indexed, retrieval wired into the decision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4713C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Reports: filing PDF plus editable DOCX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4713C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Admin dashboard: rules, inspections, violation 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5959" y="1417320"/>
            <a:ext cx="2659303" cy="2331720"/>
          </a:xfrm>
          <a:prstGeom prst="roundRect">
            <a:avLst>
              <a:gd name="adj" fmla="val 8000"/>
            </a:avLst>
          </a:prstGeom>
          <a:solidFill>
            <a:srgbClr val="E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5959" y="1417320"/>
            <a:ext cx="2659303" cy="4572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7127" y="1517904"/>
            <a:ext cx="2256967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B8A"/>
                </a:solidFill>
                <a:latin typeface="Segoe UI"/>
              </a:rPr>
              <a:t>NEXT 3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7127" y="1755648"/>
            <a:ext cx="2256967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38"/>
                </a:solidFill>
                <a:latin typeface="Segoe UI"/>
              </a:rPr>
              <a:t>Close the reality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5415" y="2029967"/>
            <a:ext cx="2220391" cy="16276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0F7B8A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Validation against real retail photography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0F7B8A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Mobile-first UI polish for inspectors and consumers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0F7B8A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Surface label-comparison and tamper detection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0F7B8A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Export violations and history to CSV and Excel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1417320"/>
            <a:ext cx="2659303" cy="2331720"/>
          </a:xfrm>
          <a:prstGeom prst="roundRect">
            <a:avLst>
              <a:gd name="adj" fmla="val 8000"/>
            </a:avLst>
          </a:prstGeom>
          <a:solidFill>
            <a:srgbClr val="EC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6431" y="1417320"/>
            <a:ext cx="2659303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7599" y="1517904"/>
            <a:ext cx="2256967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</a:rPr>
              <a:t>6–12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1755648"/>
            <a:ext cx="2256967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38"/>
                </a:solidFill>
                <a:latin typeface="Segoe UI"/>
              </a:rPr>
              <a:t>Scale and integrate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2029967"/>
            <a:ext cx="2220391" cy="16276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D4ED8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React Native client — native iOS and Android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D4ED8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State regulatory portals, single sign-on for inspectors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D4ED8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PostgreSQL scale-out on the existing ORM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1D4ED8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Pinecone and Redis as drop-in high-throughput swaps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6903" y="1417320"/>
            <a:ext cx="2659303" cy="2331720"/>
          </a:xfrm>
          <a:prstGeom prst="roundRect">
            <a:avLst>
              <a:gd name="adj" fmla="val 8000"/>
            </a:avLst>
          </a:prstGeom>
          <a:solidFill>
            <a:srgbClr val="F1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6903" y="1417320"/>
            <a:ext cx="2659303" cy="4572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58071" y="1517904"/>
            <a:ext cx="2256967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8071" y="1755648"/>
            <a:ext cx="2256967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A38"/>
                </a:solidFill>
                <a:latin typeface="Segoe UI"/>
              </a:rPr>
              <a:t>How it reaches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6359" y="2029967"/>
            <a:ext cx="2220391" cy="16276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0E2A38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Now — Docker container, self-hosted, piloted with one state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0E2A38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6 months — hosted service for a pan-India rollout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0E2A38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12 months — manufacturer self-audit portal, freemium B2B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>
                <a:srgbClr val="0E2A38"/>
              </a:buClr>
              <a:buFont typeface="Arial"/>
              <a:buChar char="▪"/>
            </a:pPr>
            <a:r>
              <a:rPr sz="1000" b="0" i="0">
                <a:solidFill>
                  <a:srgbClr val="334E5C"/>
                </a:solidFill>
                <a:latin typeface="Segoe UI"/>
              </a:rPr>
              <a:t>Throughout — the offline core stays deployable on state hardware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162223" y="2514600"/>
            <a:ext cx="146304" cy="173736"/>
          </a:xfrm>
          <a:prstGeom prst="rightArrow">
            <a:avLst/>
          </a:prstGeom>
          <a:solidFill>
            <a:srgbClr val="C2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6022695" y="2514600"/>
            <a:ext cx="146304" cy="173736"/>
          </a:xfrm>
          <a:prstGeom prst="rightArrow">
            <a:avLst/>
          </a:prstGeom>
          <a:solidFill>
            <a:srgbClr val="C2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8883167" y="2514600"/>
            <a:ext cx="146304" cy="173736"/>
          </a:xfrm>
          <a:prstGeom prst="rightArrow">
            <a:avLst/>
          </a:prstGeom>
          <a:solidFill>
            <a:srgbClr val="C2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3822191"/>
            <a:ext cx="11240719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B8A"/>
                </a:solidFill>
                <a:latin typeface="Segoe UI"/>
              </a:rPr>
              <a:t>WHY WE WIN  ·  FOUR THINGS SEPARATE THIS FROM A PROTOTYPE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096511"/>
            <a:ext cx="2659303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5488" y="4096511"/>
            <a:ext cx="2659303" cy="4572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58368" y="4224527"/>
            <a:ext cx="292608" cy="292608"/>
          </a:xfrm>
          <a:prstGeom prst="ellipse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4270248"/>
            <a:ext cx="1909495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TECHNICAL EXCELLENCE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4590288"/>
            <a:ext cx="2220391" cy="10058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0F7B8A"/>
              </a:buClr>
              <a:buFont typeface="Arial"/>
              <a:buChar char="▪"/>
            </a:pPr>
            <a:r>
              <a:rPr sz="950" b="0" i="0">
                <a:solidFill>
                  <a:srgbClr val="334E5C"/>
                </a:solidFill>
                <a:latin typeface="Segoe UI"/>
              </a:rPr>
              <a:t>A working system, not a pitch deck — every stage tested end to end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0F7B8A"/>
              </a:buClr>
              <a:buFont typeface="Arial"/>
              <a:buChar char="▪"/>
            </a:pPr>
            <a:r>
              <a:rPr sz="950" b="0" i="0">
                <a:solidFill>
                  <a:srgbClr val="334E5C"/>
                </a:solidFill>
                <a:latin typeface="Segoe UI"/>
              </a:rPr>
              <a:t>100% regression pass across all synthetic defect scenarios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0F7B8A"/>
              </a:buClr>
              <a:buFont typeface="Arial"/>
              <a:buChar char="▪"/>
            </a:pPr>
            <a:r>
              <a:rPr sz="950" b="0" i="0">
                <a:solidFill>
                  <a:srgbClr val="334E5C"/>
                </a:solidFill>
                <a:latin typeface="Segoe UI"/>
              </a:rPr>
              <a:t>Offline-first, zero vendor lock-in, no cloud contract to deploy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5959" y="4096511"/>
            <a:ext cx="2659303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35959" y="4096511"/>
            <a:ext cx="2659303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518839" y="4224527"/>
            <a:ext cx="292608" cy="29260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4599" y="4270248"/>
            <a:ext cx="1909495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DOMAIN DEPTH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55415" y="4590288"/>
            <a:ext cx="2220391" cy="10058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D4ED8"/>
              </a:buClr>
              <a:buFont typeface="Arial"/>
              <a:buChar char="▪"/>
            </a:pPr>
            <a:r>
              <a:rPr sz="950" b="0" i="0">
                <a:solidFill>
                  <a:srgbClr val="334E5C"/>
                </a:solidFill>
                <a:latin typeface="Segoe UI"/>
              </a:rPr>
              <a:t>Modelled at clause level — each check enforces one rule and cites it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D4ED8"/>
              </a:buClr>
              <a:buFont typeface="Arial"/>
              <a:buChar char="▪"/>
            </a:pPr>
            <a:r>
              <a:rPr sz="950" b="0" i="0">
                <a:solidFill>
                  <a:srgbClr val="334E5C"/>
                </a:solidFill>
                <a:latin typeface="Segoe UI"/>
              </a:rPr>
              <a:t>Severity mapped to the statute, with Section 36 exposure surfaced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D4ED8"/>
              </a:buClr>
              <a:buFont typeface="Arial"/>
              <a:buChar char="▪"/>
            </a:pPr>
            <a:r>
              <a:rPr sz="950" b="0" i="0">
                <a:solidFill>
                  <a:srgbClr val="334E5C"/>
                </a:solidFill>
                <a:latin typeface="Segoe UI"/>
              </a:rPr>
              <a:t>Reports shaped like the record an officer actually files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6431" y="4096511"/>
            <a:ext cx="2659303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96431" y="4096511"/>
            <a:ext cx="2659303" cy="45720"/>
          </a:xfrm>
          <a:prstGeom prst="rect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379311" y="4224527"/>
            <a:ext cx="292608" cy="292608"/>
          </a:xfrm>
          <a:prstGeom prst="ellipse">
            <a:avLst/>
          </a:prstGeom>
          <a:solidFill>
            <a:srgbClr val="147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5071" y="4270248"/>
            <a:ext cx="1909495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MARKET FIT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5887" y="4590288"/>
            <a:ext cx="2220391" cy="10058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4713C"/>
              </a:buClr>
              <a:buFont typeface="Arial"/>
              <a:buChar char="▪"/>
            </a:pPr>
            <a:r>
              <a:rPr sz="950" b="0" i="0">
                <a:solidFill>
                  <a:srgbClr val="334E5C"/>
                </a:solidFill>
                <a:latin typeface="Segoe UI"/>
              </a:rPr>
              <a:t>Three-sided: consumers, state regulators, packaged-goods makers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4713C"/>
              </a:buClr>
              <a:buFont typeface="Arial"/>
              <a:buChar char="▪"/>
            </a:pPr>
            <a:r>
              <a:rPr sz="950" b="0" i="0">
                <a:solidFill>
                  <a:srgbClr val="334E5C"/>
                </a:solidFill>
                <a:latin typeface="Segoe UI"/>
              </a:rPr>
              <a:t>The buyer wrote the brief and holds the budget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4713C"/>
              </a:buClr>
              <a:buFont typeface="Arial"/>
              <a:buChar char="▪"/>
            </a:pPr>
            <a:r>
              <a:rPr sz="950" b="0" i="0">
                <a:solidFill>
                  <a:srgbClr val="334E5C"/>
                </a:solidFill>
                <a:latin typeface="Segoe UI"/>
              </a:rPr>
              <a:t>It solves the stated problem: a compliance check they cannot staff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56903" y="4096511"/>
            <a:ext cx="2659303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056903" y="4096511"/>
            <a:ext cx="2659303" cy="45720"/>
          </a:xfrm>
          <a:prstGeom prst="rect">
            <a:avLst/>
          </a:prstGeom>
          <a:solidFill>
            <a:srgbClr val="C26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239783" y="4224527"/>
            <a:ext cx="292608" cy="292608"/>
          </a:xfrm>
          <a:prstGeom prst="ellipse">
            <a:avLst/>
          </a:prstGeom>
          <a:solidFill>
            <a:srgbClr val="C26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5543" y="4270248"/>
            <a:ext cx="1909495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A38"/>
                </a:solidFill>
                <a:latin typeface="Segoe UI"/>
              </a:rPr>
              <a:t>RISK MITIGATION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76359" y="4590288"/>
            <a:ext cx="2220391" cy="10058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C26A06"/>
              </a:buClr>
              <a:buFont typeface="Arial"/>
              <a:buChar char="▪"/>
            </a:pPr>
            <a:r>
              <a:rPr sz="950" b="0" i="0">
                <a:solidFill>
                  <a:srgbClr val="334E5C"/>
                </a:solidFill>
                <a:latin typeface="Segoe UI"/>
              </a:rPr>
              <a:t>A deterministic engine means an LLM failure is never a liability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C26A06"/>
              </a:buClr>
              <a:buFont typeface="Arial"/>
              <a:buChar char="▪"/>
            </a:pPr>
            <a:r>
              <a:rPr sz="950" b="0" i="0">
                <a:solidFill>
                  <a:srgbClr val="334E5C"/>
                </a:solidFill>
                <a:latin typeface="Segoe UI"/>
              </a:rPr>
              <a:t>Fully offline keeps rural India in scope rather than out of it</a:t>
            </a:r>
          </a:p>
          <a:p>
            <a:pPr marL="150000" indent="-1500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C26A06"/>
              </a:buClr>
              <a:buFont typeface="Arial"/>
              <a:buChar char="▪"/>
            </a:pPr>
            <a:r>
              <a:rPr sz="950" b="0" i="0">
                <a:solidFill>
                  <a:srgbClr val="334E5C"/>
                </a:solidFill>
                <a:latin typeface="Segoe UI"/>
              </a:rPr>
              <a:t>Semantic caching keeps cost per scan viable at scale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" y="5797296"/>
            <a:ext cx="11240719" cy="566928"/>
          </a:xfrm>
          <a:prstGeom prst="roundRect">
            <a:avLst>
              <a:gd name="adj" fmla="val 8000"/>
            </a:avLst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75488" y="5797296"/>
            <a:ext cx="50292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8" y="5797296"/>
            <a:ext cx="10692079" cy="56692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WellPack is not a lab experiment. The pipeline runs, the verdicts are cited, and the reports are the ones an officer would file.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B6A6"/>
                </a:solidFill>
                <a:latin typeface="Segoe UI"/>
              </a:rPr>
              <a:t>We are ready to pilot with one state. The question is how fast adoption follows.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1873</Words>
  <Application>Microsoft Office PowerPoint</Application>
  <PresentationFormat>Widescreen</PresentationFormat>
  <Paragraphs>264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Princy Garg</cp:lastModifiedBy>
  <cp:revision>3</cp:revision>
  <dcterms:created xsi:type="dcterms:W3CDTF">2013-01-27T09:14:16Z</dcterms:created>
  <dcterms:modified xsi:type="dcterms:W3CDTF">2026-09-10T20:13:22Z</dcterms:modified>
  <cp:category/>
</cp:coreProperties>
</file>